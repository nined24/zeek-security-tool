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CADCFC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CADCFC"/>
                </a:solidFill>
                <a:latin typeface="Arial"/>
              </a:rPr>
              <a:t>Sector Adoption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Finance</c:v>
                </c:pt>
                <c:pt idx="1">
                  <c:v>Healthcare</c:v>
                </c:pt>
                <c:pt idx="2">
                  <c:v>Government</c:v>
                </c:pt>
                <c:pt idx="3">
                  <c:v>Education</c:v>
                </c:pt>
                <c:pt idx="4">
                  <c:v>Telecom</c:v>
                </c:pt>
                <c:pt idx="5">
                  <c:v>Defense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</c:v>
                </c:pt>
                <c:pt idx="1">
                  <c:v>72</c:v>
                </c:pt>
                <c:pt idx="2">
                  <c:v>95</c:v>
                </c:pt>
                <c:pt idx="3">
                  <c:v>65</c:v>
                </c:pt>
                <c:pt idx="4">
                  <c:v>78</c:v>
                </c:pt>
                <c:pt idx="5">
                  <c:v>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972214160"/>
        <c:axId val="-972218512"/>
      </c:barChart>
      <c:catAx>
        <c:axId val="-9722141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-972218512"/>
        <c:crosses val="autoZero"/>
        <c:auto val="1"/>
        <c:lblAlgn val="ctr"/>
        <c:lblOffset val="100"/>
        <c:noMultiLvlLbl val="1"/>
      </c:catAx>
      <c:valAx>
        <c:axId val="-97221851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76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-972214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399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749808"/>
            <a:ext cx="164592" cy="4142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10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ZEEK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Monitor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IA#2 — </a:t>
            </a:r>
            <a:r>
              <a:rPr lang="en-US" sz="2000" i="1" dirty="0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NEETWORK AND INFORMATION SECURITY 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6400800" cy="2087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 Somaiya School of Engineering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Somaiya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Vidyavihar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-D</a:t>
            </a:r>
            <a:endParaRPr lang="en-US" sz="12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MEMBERS :- 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MANAN KHETAN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NINED SOMAIYA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KHAMANI</a:t>
            </a:r>
            <a:endParaRPr lang="en-US" sz="12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0" y="1097280"/>
            <a:ext cx="502920" cy="502920"/>
          </a:xfrm>
          <a:prstGeom prst="rect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78040" y="1097280"/>
            <a:ext cx="502920" cy="502920"/>
          </a:xfrm>
          <a:prstGeom prst="rect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1097280"/>
            <a:ext cx="502920" cy="502920"/>
          </a:xfrm>
          <a:prstGeom prst="rect">
            <a:avLst/>
          </a:prstGeom>
          <a:solidFill>
            <a:srgbClr val="02809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66760" y="1097280"/>
            <a:ext cx="502920" cy="502920"/>
          </a:xfrm>
          <a:prstGeom prst="rect">
            <a:avLst/>
          </a:prstGeom>
          <a:solidFill>
            <a:srgbClr val="1E276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1691640"/>
            <a:ext cx="502920" cy="502920"/>
          </a:xfrm>
          <a:prstGeom prst="rect">
            <a:avLst/>
          </a:prstGeom>
          <a:solidFill>
            <a:srgbClr val="028090">
              <a:alpha val="8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78040" y="1691640"/>
            <a:ext cx="502920" cy="502920"/>
          </a:xfrm>
          <a:prstGeom prst="rect">
            <a:avLst/>
          </a:prstGeom>
          <a:solidFill>
            <a:srgbClr val="028090">
              <a:alpha val="8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0" y="1691640"/>
            <a:ext cx="502920" cy="502920"/>
          </a:xfrm>
          <a:prstGeom prst="rect">
            <a:avLst/>
          </a:prstGeom>
          <a:solidFill>
            <a:srgbClr val="1E2761">
              <a:alpha val="8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66760" y="1691640"/>
            <a:ext cx="502920" cy="502920"/>
          </a:xfrm>
          <a:prstGeom prst="rect">
            <a:avLst/>
          </a:prstGeom>
          <a:solidFill>
            <a:srgbClr val="1E2761">
              <a:alpha val="8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2286000"/>
            <a:ext cx="502920" cy="502920"/>
          </a:xfrm>
          <a:prstGeom prst="rect">
            <a:avLst/>
          </a:prstGeom>
          <a:solidFill>
            <a:srgbClr val="028090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78040" y="2286000"/>
            <a:ext cx="502920" cy="502920"/>
          </a:xfrm>
          <a:prstGeom prst="rect">
            <a:avLst/>
          </a:prstGeom>
          <a:solidFill>
            <a:srgbClr val="1E2761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2286000"/>
            <a:ext cx="502920" cy="502920"/>
          </a:xfrm>
          <a:prstGeom prst="rect">
            <a:avLst/>
          </a:prstGeom>
          <a:solidFill>
            <a:srgbClr val="1E2761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66760" y="2286000"/>
            <a:ext cx="502920" cy="502920"/>
          </a:xfrm>
          <a:prstGeom prst="rect">
            <a:avLst/>
          </a:prstGeom>
          <a:solidFill>
            <a:srgbClr val="1E2761">
              <a:alpha val="7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0" y="2880360"/>
            <a:ext cx="502920" cy="502920"/>
          </a:xfrm>
          <a:prstGeom prst="rect">
            <a:avLst/>
          </a:prstGeom>
          <a:solidFill>
            <a:srgbClr val="1E2761">
              <a:alpha val="5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78040" y="2880360"/>
            <a:ext cx="502920" cy="502920"/>
          </a:xfrm>
          <a:prstGeom prst="rect">
            <a:avLst/>
          </a:prstGeom>
          <a:solidFill>
            <a:srgbClr val="1E2761">
              <a:alpha val="5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0" y="2880360"/>
            <a:ext cx="502920" cy="502920"/>
          </a:xfrm>
          <a:prstGeom prst="rect">
            <a:avLst/>
          </a:prstGeom>
          <a:solidFill>
            <a:srgbClr val="1E2761">
              <a:alpha val="5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66760" y="2880360"/>
            <a:ext cx="502920" cy="502920"/>
          </a:xfrm>
          <a:prstGeom prst="rect">
            <a:avLst/>
          </a:prstGeom>
          <a:solidFill>
            <a:srgbClr val="1E2761">
              <a:alpha val="5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0" y="3474720"/>
            <a:ext cx="502920" cy="502920"/>
          </a:xfrm>
          <a:prstGeom prst="rect">
            <a:avLst/>
          </a:prstGeom>
          <a:solidFill>
            <a:srgbClr val="1E2761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3474720"/>
            <a:ext cx="502920" cy="502920"/>
          </a:xfrm>
          <a:prstGeom prst="rect">
            <a:avLst/>
          </a:prstGeom>
          <a:solidFill>
            <a:srgbClr val="1E2761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0" y="3474720"/>
            <a:ext cx="502920" cy="502920"/>
          </a:xfrm>
          <a:prstGeom prst="rect">
            <a:avLst/>
          </a:prstGeom>
          <a:solidFill>
            <a:srgbClr val="1E2761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66760" y="3474720"/>
            <a:ext cx="502920" cy="502920"/>
          </a:xfrm>
          <a:prstGeom prst="rect">
            <a:avLst/>
          </a:prstGeom>
          <a:solidFill>
            <a:srgbClr val="1E2761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0" y="4069080"/>
            <a:ext cx="502920" cy="502920"/>
          </a:xfrm>
          <a:prstGeom prst="rect">
            <a:avLst/>
          </a:prstGeom>
          <a:solidFill>
            <a:srgbClr val="1E2761">
              <a:alpha val="2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78040" y="4069080"/>
            <a:ext cx="502920" cy="502920"/>
          </a:xfrm>
          <a:prstGeom prst="rect">
            <a:avLst/>
          </a:prstGeom>
          <a:solidFill>
            <a:srgbClr val="1E2761">
              <a:alpha val="2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0" y="4069080"/>
            <a:ext cx="502920" cy="502920"/>
          </a:xfrm>
          <a:prstGeom prst="rect">
            <a:avLst/>
          </a:prstGeom>
          <a:solidFill>
            <a:srgbClr val="1E2761">
              <a:alpha val="2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66760" y="4069080"/>
            <a:ext cx="502920" cy="502920"/>
          </a:xfrm>
          <a:prstGeom prst="rect">
            <a:avLst/>
          </a:prstGeom>
          <a:solidFill>
            <a:srgbClr val="1E2761">
              <a:alpha val="2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463040"/>
            <a:ext cx="3474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48132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1520" y="1481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Motivation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865376"/>
            <a:ext cx="3474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88366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18836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Zeek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2267712"/>
            <a:ext cx="3474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28600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Functionalities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670048"/>
            <a:ext cx="3474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6883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" y="2688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" y="3072384"/>
            <a:ext cx="3474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09067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1520" y="3090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Setup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3474720"/>
            <a:ext cx="3474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49300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1520" y="3493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First Run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" y="3877056"/>
            <a:ext cx="3474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89534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1520" y="38953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Files &amp; Analysis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4279392"/>
            <a:ext cx="34747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42976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4297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&amp; Detection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1463040"/>
            <a:ext cx="3474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148132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166360" y="1481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54880" y="1865376"/>
            <a:ext cx="3474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188366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166360" y="18836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Implications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754880" y="2267712"/>
            <a:ext cx="3474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0" y="228600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166360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in Industry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754880" y="2670048"/>
            <a:ext cx="3474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26883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66360" y="2688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754880" y="3072384"/>
            <a:ext cx="3474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54880" y="309067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166360" y="3090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Similar Tools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754880" y="3474720"/>
            <a:ext cx="3474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54880" y="349300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166360" y="3493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754880" y="3877056"/>
            <a:ext cx="3474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54880" y="389534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166360" y="38953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 &amp; Motivation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4114800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17320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538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Cyber Threats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76479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networks face sophisticated attacks — malware, ransomware, APTs, and data breaches that traditional firewalls cannot detect.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4114800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417320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4538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Visibility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76479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struggle to see what is happening inside their network traffic in real-time, leaving threats undetected for months.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2926080"/>
            <a:ext cx="4114800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2926080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9626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Security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327355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alert only after damage is done; there is a critical need for proactive, behavior-based network monitoring.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926080"/>
            <a:ext cx="4114800" cy="1371600"/>
          </a:xfrm>
          <a:prstGeom prst="rect">
            <a:avLst/>
          </a:prstGeom>
          <a:solidFill>
            <a:srgbClr val="F4F6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2926080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9626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Complexity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46320" y="327355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packet captures are enormous and unusable; structured, queryable logs are needed for fast threat hunting.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Zeek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13258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What is Zeek?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Zeek (formerly Bro) is a powerful, open-source network analysis framework developed at LBNL. Unlike traditional IDS, Zeek is a semantic-layer monitor — it understands protocols and produces structured logs rather than just flagging signatures.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Origin &amp; History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• Created by Vern Paxson in 1994 at Berkeley Lab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• Renamed from Bro to Zeek in 2018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• Maintained by the Zeek community &amp; Corelight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• Used by CERN, US DOE, NASA, and universities worldwide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371600"/>
            <a:ext cx="16002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59552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59552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extensible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223760" y="1371600"/>
            <a:ext cx="16002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96912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Protocol-Aware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96912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protocols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3017520"/>
            <a:ext cx="16002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59552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59552" y="3794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Event-based scripts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23760" y="3017520"/>
            <a:ext cx="160020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96912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96912" y="3794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macOS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Workflow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463040"/>
            <a:ext cx="12344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508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2057400"/>
            <a:ext cx="12344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 / PCAP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00200" y="1965960"/>
            <a:ext cx="1828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83080" y="1463040"/>
            <a:ext cx="1234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83080" y="1508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83080" y="2057400"/>
            <a:ext cx="123444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libpcap parsing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017520" y="1965960"/>
            <a:ext cx="1828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1463040"/>
            <a:ext cx="1234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1508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00400" y="2057400"/>
            <a:ext cx="123444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analyzers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434840" y="1965960"/>
            <a:ext cx="1828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17720" y="1463040"/>
            <a:ext cx="12344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7720" y="1508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17720" y="2057400"/>
            <a:ext cx="12344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generation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852160" y="1965960"/>
            <a:ext cx="1828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463040"/>
            <a:ext cx="12344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1508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035040" y="2057400"/>
            <a:ext cx="123444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.zeek policies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269480" y="1965960"/>
            <a:ext cx="1828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52360" y="1463040"/>
            <a:ext cx="12344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52360" y="1508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52360" y="2057400"/>
            <a:ext cx="123444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 / JSON output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6576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Log Files: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65760" y="3017520"/>
            <a:ext cx="1920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conn.log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514600" y="3017520"/>
            <a:ext cx="1920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1460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dns.log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63440" y="3017520"/>
            <a:ext cx="1920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http.log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812280" y="3017520"/>
            <a:ext cx="1920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12280" y="3017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ssl.log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65760" y="3474720"/>
            <a:ext cx="19202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files.log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514600" y="3474720"/>
            <a:ext cx="19202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51460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weird.log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663440" y="3474720"/>
            <a:ext cx="19202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6344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notice.log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812280" y="3474720"/>
            <a:ext cx="19202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812280" y="3474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smtp.log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6576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Analysis: zeek-cut | grep | awk | SIEM / ELK / Splunk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&amp; Setup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74320" y="1325880"/>
            <a:ext cx="4023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3533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 — Package Manager (Ubuntu/Debian)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1627632"/>
            <a:ext cx="4023360" cy="1554480"/>
          </a:xfrm>
          <a:prstGeom prst="rect">
            <a:avLst/>
          </a:prstGeom>
          <a:solidFill>
            <a:srgbClr val="0D1B2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66420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'deb http://download.opensuse.org/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repositories/security:/zeek/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xUbuntu_22.04/ /' | sudo tee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/etc/apt/sources.list.d/zeek.list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[repo-key-url] | gpg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--dearmor | sudo tee zeek.gpg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zeek -y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1148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3533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 — Build from Source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627632"/>
            <a:ext cx="4114800" cy="1554480"/>
          </a:xfrm>
          <a:prstGeom prst="rect">
            <a:avLst/>
          </a:prstGeom>
          <a:solidFill>
            <a:srgbClr val="0D1B2A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664208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cmake make gcc g++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 libfl-dev bison libpcap-dev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libssl-dev python3-dev swig -y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--recursive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https://github.com/zeek/zeek.git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zeek &amp;&amp; ./configure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-j$(nproc)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make install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74320" y="3273552"/>
            <a:ext cx="850392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33009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PATH &amp; Verify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575304"/>
            <a:ext cx="8503920" cy="502920"/>
          </a:xfrm>
          <a:prstGeom prst="rect">
            <a:avLst/>
          </a:prstGeom>
          <a:solidFill>
            <a:srgbClr val="0D1B2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61188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'export PATH=/usr/local/zeek/bin:$PATH' &gt;&gt; ~/.bashrc  &amp;&amp;  source ~/.bashrc  &amp;&amp;  zeek --version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" y="422452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requirements: Ubuntu 20.04+/Debian 10+ | 4GB RAM min | GCC 7+ | libpcap | Python 3.6+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&amp; First Run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417320"/>
            <a:ext cx="3200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3464" y="19659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4904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node.cfg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1801368"/>
            <a:ext cx="36118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1837944"/>
            <a:ext cx="34930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[zeek]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type=standalone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host=localhost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interface=eth0   # set your NIC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63440" y="141732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417320"/>
            <a:ext cx="3200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72584" y="196596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74920" y="14904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networks.cfg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74920" y="1801368"/>
            <a:ext cx="36118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38928" y="1837944"/>
            <a:ext cx="34930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192.168.1.0/24    My LAN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10.0.0.0/8        Private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310896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3108960"/>
            <a:ext cx="3200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3464" y="365760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318211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" y="3493008"/>
            <a:ext cx="36118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" y="3529584"/>
            <a:ext cx="34930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zeek -i eth0 local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analyze a pcap: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zeek -r traffic.pcap local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63440" y="310896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63440" y="3108960"/>
            <a:ext cx="3200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72584" y="3657600"/>
            <a:ext cx="30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074920" y="318211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zeekctl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74920" y="3493008"/>
            <a:ext cx="36118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38928" y="3529584"/>
            <a:ext cx="34930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zeekctl deploy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zeekctl status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zeekctl stop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Files &amp; Analysis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25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 files generated by Zeek after a capture session: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" y="1664208"/>
            <a:ext cx="16459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6642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conn.log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993392" y="1664208"/>
            <a:ext cx="6812280" cy="292608"/>
          </a:xfrm>
          <a:prstGeom prst="rect">
            <a:avLst/>
          </a:prstGeom>
          <a:solidFill>
            <a:srgbClr val="E8F7F5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84832" y="166420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TCP/UDP/ICMP connection — duration, bytes, state, history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020824"/>
            <a:ext cx="1645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020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dns.log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993392" y="2020824"/>
            <a:ext cx="6812280" cy="292608"/>
          </a:xfrm>
          <a:prstGeom prst="rect">
            <a:avLst/>
          </a:prstGeom>
          <a:solidFill>
            <a:srgbClr val="F4F6F9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84832" y="202082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queries, answers, response codes, TTL values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377440"/>
            <a:ext cx="16459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3774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http.log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993392" y="2377440"/>
            <a:ext cx="6812280" cy="292608"/>
          </a:xfrm>
          <a:prstGeom prst="rect">
            <a:avLst/>
          </a:prstGeom>
          <a:solidFill>
            <a:srgbClr val="E8F7F5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84832" y="237744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method, host, URI, status code, user-agent, body size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2734056"/>
            <a:ext cx="1645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27340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ssl.log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993392" y="2734056"/>
            <a:ext cx="6812280" cy="292608"/>
          </a:xfrm>
          <a:prstGeom prst="rect">
            <a:avLst/>
          </a:prstGeom>
          <a:solidFill>
            <a:srgbClr val="F4F6F9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84832" y="27340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version, cipher suite, certificate, SNI, session resumption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" y="3090672"/>
            <a:ext cx="16459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0906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files.log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993392" y="3090672"/>
            <a:ext cx="6812280" cy="292608"/>
          </a:xfrm>
          <a:prstGeom prst="rect">
            <a:avLst/>
          </a:prstGeom>
          <a:solidFill>
            <a:srgbClr val="E8F7F5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084832" y="30906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transferred over the wire with MD5/SHA1 hashes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0040" y="3447288"/>
            <a:ext cx="1645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34472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weird.log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1993392" y="3447288"/>
            <a:ext cx="6812280" cy="292608"/>
          </a:xfrm>
          <a:prstGeom prst="rect">
            <a:avLst/>
          </a:prstGeom>
          <a:solidFill>
            <a:srgbClr val="F4F6F9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84832" y="344728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anomalies — best log for threat hunting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" y="3803904"/>
            <a:ext cx="164592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38039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notice.log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1993392" y="3803904"/>
            <a:ext cx="6812280" cy="292608"/>
          </a:xfrm>
          <a:prstGeom prst="rect">
            <a:avLst/>
          </a:prstGeom>
          <a:solidFill>
            <a:srgbClr val="E8F7F5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84832" y="380390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raised by Zeek detection scripts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20040" y="4160520"/>
            <a:ext cx="1645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4160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smtp.log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993392" y="4160520"/>
            <a:ext cx="6812280" cy="292608"/>
          </a:xfrm>
          <a:prstGeom prst="rect">
            <a:avLst/>
          </a:prstGeom>
          <a:solidFill>
            <a:srgbClr val="F4F6F9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84832" y="416052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sender, recipient, subject, attachment details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Scripting &amp; Detection Logic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20040" y="1325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Zeek's event-driven scripting language enables custom detection: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27632"/>
            <a:ext cx="5029200" cy="2560320"/>
          </a:xfrm>
          <a:prstGeom prst="rect">
            <a:avLst/>
          </a:prstGeom>
          <a:solidFill>
            <a:srgbClr val="0D1B2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66420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Scan Detection Script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1956816"/>
            <a:ext cx="489204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Portscan;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{ redef enum Notice::Type += { Sweep };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scan_tracker: table[addr] of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set[port] &amp;create_expire=5min;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new_connection(c: connection)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 src = c$id$orig_h;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 dst_port = c$id$resp_p;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(src !in scan_tracker)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scan_tracker[src] = set();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scan_tracker[src][dst_port];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 |scan_tracker[src]| &gt; 20 )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NOTICE([$note=Portscan::Sweep,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$msg=fmt("Scan from %s",src),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$src=src]);  }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1627632"/>
            <a:ext cx="3291840" cy="640080"/>
          </a:xfrm>
          <a:prstGeom prst="rect">
            <a:avLst/>
          </a:prstGeom>
          <a:solidFill>
            <a:srgbClr val="1E276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16642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77840" y="192024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react to network events: new_connection, http_request, dns_request, file_new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486400" y="2359152"/>
            <a:ext cx="3291840" cy="640080"/>
          </a:xfrm>
          <a:prstGeom prst="rect">
            <a:avLst/>
          </a:prstGeom>
          <a:solidFill>
            <a:srgbClr val="1E276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39572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System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6517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NOTICE() writes structured alerts to notice.log — integrates with SIEM pipelines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86400" y="3090672"/>
            <a:ext cx="3291840" cy="640080"/>
          </a:xfrm>
          <a:prstGeom prst="rect">
            <a:avLst/>
          </a:prstGeom>
          <a:solidFill>
            <a:srgbClr val="1E276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312724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Tables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77840" y="338328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Zeek tables to track state across connections (e.g. scan counts per IP)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0" y="3822192"/>
            <a:ext cx="3291840" cy="640080"/>
          </a:xfrm>
          <a:prstGeom prst="rect">
            <a:avLst/>
          </a:prstGeom>
          <a:solidFill>
            <a:srgbClr val="1E276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8587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Framework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77840" y="411480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IOC feeds (IPs, domains, hashes) via redef Intel::read_files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371600"/>
            <a:ext cx="2697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0817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175564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analysts use Zeek logs to hunt for lateral movement, C2 beaconing, and data exfiltration patterns across millions of connections.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54680" y="13716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54680" y="1371600"/>
            <a:ext cx="2697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140817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46120" y="175564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breach, Zeek's historical logs reveal the exact timeline of attacker activity — which hosts were accessed, what was downloaded.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13716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371600"/>
            <a:ext cx="2697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140817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Anomaly Detection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26480" y="175564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DNS tunneling, DGA-generated domains, and high NXDOMAIN rates that indicate malware trying to phone home.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30632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3063240"/>
            <a:ext cx="2697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09981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344728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like Berkeley, MIT, and Somaiya use Zeek for network research, protocol analysis, and cybersecurity training.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154680" y="30632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54680" y="3063240"/>
            <a:ext cx="26974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309981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46120" y="344728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Zeek's detailed logs satisfy PCI-DSS, HIPAA, and ISO 27001 requirements for network traffic monitoring and retention.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035040" y="30632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35040" y="3063240"/>
            <a:ext cx="269748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26480" y="3099816"/>
            <a:ext cx="2514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126480" y="3447288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extraction captures executables and documents transferred over the network, enabling offline sandbox analysis.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Implications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Zeek Can Detect: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664208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664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scans &amp; network sweeps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2002536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0025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tunneling &amp; DGA domains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340864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3408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credential transmission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2679192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679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exfiltration (bulk transfers)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301752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C2 beacon patterns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3355848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355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certificate anomalies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694176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6941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via SMB/RDP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4032504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40325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hash matches against threat feeds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5488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Ethical Considerations: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1664208"/>
            <a:ext cx="4069080" cy="640080"/>
          </a:xfrm>
          <a:prstGeom prst="rect">
            <a:avLst/>
          </a:prstGeom>
          <a:solidFill>
            <a:srgbClr val="FFF3F3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170078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Traffic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46320" y="195681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cannot decrypt TLS without keys; metadata analysis is still possible.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54880" y="2414016"/>
            <a:ext cx="4069080" cy="640080"/>
          </a:xfrm>
          <a:prstGeom prst="rect">
            <a:avLst/>
          </a:prstGeom>
          <a:solidFill>
            <a:srgbClr val="FFF3F3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24505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27066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personal data — requires legal authorization before deployment.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54880" y="3163824"/>
            <a:ext cx="4069080" cy="640080"/>
          </a:xfrm>
          <a:prstGeom prst="rect">
            <a:avLst/>
          </a:prstGeom>
          <a:solidFill>
            <a:srgbClr val="FFF3F3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0" y="320040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Impact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34564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10Gbps+ links, tuning and cluster mode are required to avoid packet drops.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754880" y="3913632"/>
            <a:ext cx="4069080" cy="640080"/>
          </a:xfrm>
          <a:prstGeom prst="rect">
            <a:avLst/>
          </a:prstGeom>
          <a:solidFill>
            <a:srgbClr val="FFF3F3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395020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Prevention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46320" y="42062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only monitors — it is a monitor, not a firewall or IPS.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in Industry</a:t>
            </a:r>
            <a:endParaRPr lang="en-US" sz="2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3258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Zeek: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1664208"/>
            <a:ext cx="411480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0" y="17007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54880" y="1956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1Tbps of physics research network traffic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63440" y="2377440"/>
            <a:ext cx="411480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241401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Dept of Energy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754880" y="26700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national lab networks across 17 facilities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63440" y="3090672"/>
            <a:ext cx="411480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54880" y="31272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JPL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54880" y="3383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visibility for mission-critical infrastructure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3803904"/>
            <a:ext cx="411480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38404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54880" y="4096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teaching, and campus network security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663440" y="4526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Integrations: ELK Stack | Splunk | Kafka | Corelight Sensor | TheHive | MISP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Findings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1325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running Zeek against a sample capture (test network):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664208"/>
            <a:ext cx="1965960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737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Logs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226771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pcap file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4600" y="1664208"/>
            <a:ext cx="196596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600" y="1737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347 Conns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514600" y="226771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conn.log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664208"/>
            <a:ext cx="1965960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737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 DNS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663440" y="226771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domains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12280" y="1664208"/>
            <a:ext cx="196596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12280" y="1737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Notices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812280" y="226771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raised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scripts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" y="2944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0040" y="3273552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32735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correctly identified all simulated port scans and raised NOTICE alerts within seconds of the scan starting.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0040" y="3566160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log captured all domain lookups including attempted connections to DGA-style domains with high character entropy.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" y="3858768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38587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log recorded full request headers, user-agents, and URIs — enabling immediate identification of a simulated sqlmap scan.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0040" y="4151376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1513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ssl.log flagged two self-signed certificates and one expired certificate — both potential indicators of man-in-the-middle activity.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0040" y="4443984"/>
            <a:ext cx="201168" cy="2011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4439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extraction successfully captured a test EXE file transferred over HTTP, logging its MD5 and SHA-1 hashes.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720"/>
            <a:ext cx="8686800" cy="6557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749808"/>
            <a:ext cx="91440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References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20040" y="1325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664208"/>
            <a:ext cx="2286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6642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is a best-in-class open-source network security monitor offering deep protocol visibility far beyond traditional IDS.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039112"/>
            <a:ext cx="2286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" y="20391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structured log output (conn.log, dns.log, http.log, ssl.log) enables fast, queryable threat hunting and forensic analysis.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414016"/>
            <a:ext cx="2286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140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event-driven scripting language allows organizations to codify custom detection logic tailored to their environment.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788920"/>
            <a:ext cx="2286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27889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Zeek's Intel framework provides seamless threat intelligence integration for real-time IOC matching.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" y="3163824"/>
            <a:ext cx="2286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" y="316382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adopted by CERN, NASA, and national labs — Zeek is production-proven at petabyte scale.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3538728"/>
            <a:ext cx="22860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5387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IA#2, Zeek was successfully installed, configured, and used to detect port scans, DNS anomalies, and cleartext credentials.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577840" y="13258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577840" y="16916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docs.zeek.org — Official Zeek Documentation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577840" y="211226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zeek.org/blog — Zeek Project Blog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577840" y="25328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Paxson, V. (1999). Bro: A System for Detecting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Network Intruders in Real-Time. USENIX.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577840" y="29535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Corelight — Enterprise Zeek Deployments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577840" y="337413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NIST SP 800-94 — IDS/IPS Guide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77840" y="3794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GitHub: github.com/zeek/zeek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577840" y="42153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OpenSUSE Build Service — Zeek packages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0" y="4480560"/>
            <a:ext cx="91440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0" y="45079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KJ Somaiya School of Engineering  |  Somaiya Vidyavihar University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288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046720" y="4910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1444</Words>
  <Application>Microsoft Office PowerPoint</Application>
  <PresentationFormat>On-screen Show (16:9)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Zeek Network Security Monitor</dc:title>
  <dc:subject>PptxGenJS Presentation</dc:subject>
  <dc:creator>KJ Somaiya School of Engineering</dc:creator>
  <cp:lastModifiedBy>hp</cp:lastModifiedBy>
  <cp:revision>3</cp:revision>
  <dcterms:created xsi:type="dcterms:W3CDTF">2026-03-31T10:58:42Z</dcterms:created>
  <dcterms:modified xsi:type="dcterms:W3CDTF">2026-03-31T11:25:17Z</dcterms:modified>
</cp:coreProperties>
</file>